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4"/>
  </p:sldMasterIdLst>
  <p:notesMasterIdLst>
    <p:notesMasterId r:id="rId20"/>
  </p:notesMasterIdLst>
  <p:sldIdLst>
    <p:sldId id="261" r:id="rId5"/>
    <p:sldId id="262" r:id="rId6"/>
    <p:sldId id="271" r:id="rId7"/>
    <p:sldId id="272" r:id="rId8"/>
    <p:sldId id="273" r:id="rId9"/>
    <p:sldId id="267" r:id="rId10"/>
    <p:sldId id="269" r:id="rId11"/>
    <p:sldId id="268" r:id="rId12"/>
    <p:sldId id="277" r:id="rId13"/>
    <p:sldId id="276" r:id="rId14"/>
    <p:sldId id="275" r:id="rId15"/>
    <p:sldId id="274" r:id="rId16"/>
    <p:sldId id="278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1722F29-F0BD-4AF3-AC16-2369132FE0D1}">
          <p14:sldIdLst>
            <p14:sldId id="261"/>
            <p14:sldId id="262"/>
            <p14:sldId id="271"/>
            <p14:sldId id="272"/>
            <p14:sldId id="273"/>
            <p14:sldId id="267"/>
            <p14:sldId id="269"/>
            <p14:sldId id="268"/>
            <p14:sldId id="277"/>
            <p14:sldId id="276"/>
            <p14:sldId id="275"/>
            <p14:sldId id="274"/>
            <p14:sldId id="278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BFBFB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2" autoAdjust="0"/>
    <p:restoredTop sz="94364" autoAdjust="0"/>
  </p:normalViewPr>
  <p:slideViewPr>
    <p:cSldViewPr snapToGrid="0">
      <p:cViewPr varScale="1">
        <p:scale>
          <a:sx n="66" d="100"/>
          <a:sy n="66" d="100"/>
        </p:scale>
        <p:origin x="6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3C35E-0F11-4B27-8031-8E66EC04EDE0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8632C-DD44-4ED0-B852-EE5CBEDCC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70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1EEE-DD7E-4E55-924B-1E05D3681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7119-9CE4-4683-9952-8DABDCB36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820A-DCEF-4D42-A290-4CDD8FDB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6BE0-2C7A-4E6D-84EF-E24EAE31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EFA5-1CFF-4C38-801E-90F91B38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855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32C4-B5E9-4CD9-9140-B638D874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6ED7-E235-4092-9619-95987AA37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0EF2C-F072-43B9-BA0F-0C995DC3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83E30-D59A-47E4-9C29-0611A28C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5C94A-144C-4E5E-B703-E2D81CEE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5675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FC2B-375B-4661-90D0-0A8D4E73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6FCB3-AA58-46D8-93D9-17A686D0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140A9-046E-4420-8E30-683390D1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4DE5-38AC-4031-A5E0-CF105EB6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1B25A-A604-46B8-A8BE-A7A21EB5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8782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A613D-A954-43E4-8929-BDA2E7ACC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29B61-CB46-453C-A67D-BEFE97598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C52FA-C8F3-475F-928F-630E2D74A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B6A0-0260-411F-A13C-2C9664DD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8EE39-FB79-4FE0-B61A-D15E52B2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787D8-E437-4848-B484-1FDE1CDC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28622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C243-90A1-4B12-9BEA-B04DF2F1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8F04A-3899-4CCC-A313-0BB18DA43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FED3E-2FB8-4024-B2DE-829495891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70C570-D0F9-4DEF-9F9E-BD1CC386D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819C20-A75F-438B-9AA9-273218931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EC3B6F-1D56-48C6-B0A7-5A993041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6A0EA-A48F-4BAC-B4A4-FBEB36E5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06554-1212-4BB6-BC4C-2B163BBC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0829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ABC8-23C5-4F8F-906D-7372680C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34486-CC22-428E-8C0B-226EF16D5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3BA17-DA32-48B7-B042-DBA5F0EF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B9034-DF8B-4E14-A045-5744567A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4428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E40A2-8E1A-4CBF-B11F-82D29FB0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D120D1-613E-4329-B5B0-15B62C83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C104E-382B-493C-B951-A1224BD2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8772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EBAE-9432-4499-866D-5858DC03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6FA9-0A4F-4B8C-8799-E8BE5F594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07786-49EE-4B55-9DE8-9F6BC87D7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DE7F4-46A0-45CD-A11B-0B0378A76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04B19-279B-44DD-B07B-16571202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C5762-4D09-4308-A488-DA8807678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18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554A-9988-4187-8919-C0CD8539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78C02F-0A55-456D-8D3E-4C5F6100E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90582-406A-4DD8-8DDA-9A307C19B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3CACF-0177-42CB-BA76-EB38BE621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B3BD7-9663-4943-9253-57EC298A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FAD40-145F-44F9-80B5-82D4E024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02247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6804-728C-4985-B8E7-163B4EAD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402F6-A058-46E2-97D1-4A6C69026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A83BD-29D9-4641-8608-51752E31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0E6C-B39C-4AE4-A8B2-676B1349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1BA25-9B0D-48AF-9D7E-85C8D734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0114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6D237-2E98-406F-BEA0-0E6D0E3A3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742F3-C2AF-4F69-9DF8-2C6A84424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0E78B-9235-4705-AFE7-019C0F359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5B0B4-E8CD-4063-9EF8-76A5711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00D4-B38F-4EAD-8A83-3B97691B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1296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757450-0E7D-4C94-8D8A-B17C0338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02D83-1606-4E73-9724-AF8F5B4C9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3A24-249E-4BAB-BFA4-D5CC5024F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78144-6FD4-461A-BEE3-AC1989F0538A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B6B0-97DB-43EB-A67B-6AC2B0A1C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8E7C0-ED83-4284-9313-015DC6C47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6F0B9-6EDB-4F55-99E3-017684D7D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6759-3BDD-B60F-182A-F68A1B81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25" y="972743"/>
            <a:ext cx="5336675" cy="329080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>
                <a:latin typeface="BankGothic Md BT" panose="020B0807020203060204" pitchFamily="34" charset="0"/>
              </a:rPr>
              <a:t>    AC SHOP</a:t>
            </a:r>
            <a:br>
              <a:rPr lang="en-US" sz="4800" b="1" dirty="0">
                <a:latin typeface="BankGothic Md BT" panose="020B0807020203060204" pitchFamily="34" charset="0"/>
              </a:rPr>
            </a:br>
            <a:r>
              <a:rPr lang="en-US" sz="4800" b="1" dirty="0">
                <a:latin typeface="BankGothic Md BT" panose="020B0807020203060204" pitchFamily="34" charset="0"/>
              </a:rPr>
              <a:t>MANAGEMENT </a:t>
            </a:r>
            <a:br>
              <a:rPr lang="en-US" sz="4800" b="1" dirty="0">
                <a:latin typeface="BankGothic Md BT" panose="020B0807020203060204" pitchFamily="34" charset="0"/>
              </a:rPr>
            </a:br>
            <a:r>
              <a:rPr lang="en-US" sz="4800" b="1" dirty="0">
                <a:latin typeface="BankGothic Md BT" panose="020B0807020203060204" pitchFamily="34" charset="0"/>
              </a:rPr>
              <a:t>     SYSTEM</a:t>
            </a:r>
          </a:p>
        </p:txBody>
      </p:sp>
      <p:pic>
        <p:nvPicPr>
          <p:cNvPr id="1026" name="Picture 2" descr="AC Buying Guide India 2024: Everything ...">
            <a:extLst>
              <a:ext uri="{FF2B5EF4-FFF2-40B4-BE49-F238E27FC236}">
                <a16:creationId xmlns:a16="http://schemas.microsoft.com/office/drawing/2014/main" id="{935F1093-9589-89FF-5F2E-246059DBA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7703" y="955803"/>
            <a:ext cx="4017997" cy="225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7297703" y="4263548"/>
            <a:ext cx="4017997" cy="950765"/>
          </a:xfrm>
          <a:prstGeom prst="rect">
            <a:avLst/>
          </a:prstGeom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74ACBD06-6985-FD55-B568-2D12BE94CD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5BEDBCB9-ADBE-3404-1252-175085C62F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D0C028D7-9C46-128D-CDF7-B32F79FA754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96A4FA1-E6E5-397A-60B9-EA2A96637A5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12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8E46EC2-4DC7-A3DE-FD8B-A078EFCC97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B8CA7E5-9DA9-98A7-C52F-90A3411BF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79" y="0"/>
            <a:ext cx="12198350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2D94743-9830-A30B-EE09-20852DF33B94}"/>
              </a:ext>
            </a:extLst>
          </p:cNvPr>
          <p:cNvSpPr/>
          <p:nvPr/>
        </p:nvSpPr>
        <p:spPr>
          <a:xfrm>
            <a:off x="573386" y="1007656"/>
            <a:ext cx="6247292" cy="277124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          </a:t>
            </a:r>
            <a:r>
              <a:rPr lang="en-US" sz="2800" b="1" u="sng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PREPARED</a:t>
            </a:r>
            <a:r>
              <a:rPr lang="en-US" sz="28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2800" b="1" u="sng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BY</a:t>
            </a:r>
            <a:r>
              <a:rPr lang="en-US" sz="2800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:-</a:t>
            </a:r>
          </a:p>
          <a:p>
            <a:endParaRPr lang="en-US" sz="2800" b="1" dirty="0">
              <a:solidFill>
                <a:schemeClr val="tx1"/>
              </a:solidFill>
              <a:latin typeface="Abadi" panose="020B0604020104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Student Name :</a:t>
            </a:r>
            <a:r>
              <a:rPr lang="en-IN" b="1" dirty="0">
                <a:solidFill>
                  <a:schemeClr val="tx1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Abdurrehman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M.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Narmawala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  <a:p>
            <a:r>
              <a:rPr lang="en-US" b="1" dirty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Roll no 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112</a:t>
            </a:r>
          </a:p>
          <a:p>
            <a:r>
              <a:rPr lang="en-US" b="1" dirty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Enrollment No. :</a:t>
            </a:r>
            <a:r>
              <a:rPr lang="en-IN" b="1" dirty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23002171210076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b="1" dirty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Batch 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B4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	</a:t>
            </a:r>
          </a:p>
          <a:p>
            <a:r>
              <a:rPr lang="en-US" b="1" dirty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t>Branch :</a:t>
            </a:r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CSE</a:t>
            </a:r>
          </a:p>
        </p:txBody>
      </p:sp>
    </p:spTree>
    <p:extLst>
      <p:ext uri="{BB962C8B-B14F-4D97-AF65-F5344CB8AC3E}">
        <p14:creationId xmlns:p14="http://schemas.microsoft.com/office/powerpoint/2010/main" val="27966259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42BC-C583-BC5F-C9AE-485E00E43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432B2-0B4C-1CAF-78AD-2C0BE1ABFD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12198350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ED3D5C01-E19F-F721-D4E7-5E4E522D384C}"/>
              </a:ext>
            </a:extLst>
          </p:cNvPr>
          <p:cNvSpPr txBox="1">
            <a:spLocks/>
          </p:cNvSpPr>
          <p:nvPr/>
        </p:nvSpPr>
        <p:spPr>
          <a:xfrm>
            <a:off x="-2398486" y="3637562"/>
            <a:ext cx="10515600" cy="99476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CA" b="1" i="1" u="sng" dirty="0">
              <a:solidFill>
                <a:schemeClr val="bg2">
                  <a:lumMod val="10000"/>
                </a:schemeClr>
              </a:solidFill>
              <a:highlight>
                <a:srgbClr val="008080"/>
              </a:highlight>
            </a:endParaRPr>
          </a:p>
          <a:p>
            <a:pPr algn="l"/>
            <a:endParaRPr lang="en-CA" b="1" i="1" u="sng" dirty="0">
              <a:solidFill>
                <a:schemeClr val="bg2">
                  <a:lumMod val="1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62C3516-0C7A-40B8-CE25-1F085938B43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800" dirty="0"/>
              <a:t>  </a:t>
            </a: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Purpose of the project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System design diagram (Flow-chart / Algorithm….)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ER Diagram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Use case Diagram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Functionalities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Used DATA Structures and class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Tools used  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Merits &amp; Demerits</a:t>
            </a:r>
          </a:p>
          <a:p>
            <a:pPr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  Future Scope</a:t>
            </a:r>
          </a:p>
          <a:p>
            <a:pPr algn="l"/>
            <a:endParaRPr lang="en-CA" dirty="0"/>
          </a:p>
        </p:txBody>
      </p:sp>
      <p:sp>
        <p:nvSpPr>
          <p:cNvPr id="9" name="TextBox 8"/>
          <p:cNvSpPr txBox="1"/>
          <p:nvPr/>
        </p:nvSpPr>
        <p:spPr>
          <a:xfrm>
            <a:off x="2950029" y="496889"/>
            <a:ext cx="63899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6000" dirty="0" smtClean="0"/>
              <a:t> </a:t>
            </a:r>
            <a:r>
              <a:rPr lang="en-IN" sz="6000" b="1" u="sng" dirty="0" smtClean="0">
                <a:latin typeface="Agency FB" panose="020B0503020202020204" pitchFamily="34" charset="0"/>
              </a:rPr>
              <a:t>Project</a:t>
            </a:r>
            <a:r>
              <a:rPr lang="en-IN" sz="6000" b="1" dirty="0" smtClean="0">
                <a:latin typeface="Agency FB" panose="020B0503020202020204" pitchFamily="34" charset="0"/>
              </a:rPr>
              <a:t> </a:t>
            </a:r>
            <a:r>
              <a:rPr lang="en-IN" sz="6000" b="1" u="sng" dirty="0" smtClean="0">
                <a:latin typeface="Agency FB" panose="020B0503020202020204" pitchFamily="34" charset="0"/>
              </a:rPr>
              <a:t>Intro</a:t>
            </a:r>
            <a:r>
              <a:rPr lang="en-IN" sz="6000" b="1" dirty="0" smtClean="0">
                <a:latin typeface="Agency FB" panose="020B0503020202020204" pitchFamily="34" charset="0"/>
              </a:rPr>
              <a:t> : </a:t>
            </a:r>
            <a:endParaRPr lang="en-IN" sz="60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677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" y="301924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65146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6" y="69012"/>
            <a:ext cx="741512" cy="776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532" y="1619946"/>
            <a:ext cx="1141999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Manages client information for an 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AC shop,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using a Swing-based GUI and MySQL database.</a:t>
            </a:r>
          </a:p>
          <a:p>
            <a:pPr algn="just"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Abadi" panose="020B0604020104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An 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AC Shop Management System 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is designed to streamline and optimize the operations of an air conditioning (AC) sales and service business. The primary purposes of an </a:t>
            </a:r>
            <a:r>
              <a:rPr lang="en-US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AC shop management system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 include:</a:t>
            </a:r>
          </a:p>
          <a:p>
            <a:pPr algn="just">
              <a:buClr>
                <a:schemeClr val="accent6"/>
              </a:buClr>
              <a:buFont typeface="Wingdings" panose="05000000000000000000" pitchFamily="2" charset="2"/>
              <a:buChar char="Ø"/>
            </a:pPr>
            <a:endParaRPr lang="en-US" sz="2800" b="1" i="1" dirty="0" smtClean="0">
              <a:latin typeface="Abadi" panose="020B0604020104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Inventory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management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Sales management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Customer </a:t>
            </a: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Relationship Management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[</a:t>
            </a: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CRM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]</a:t>
            </a:r>
            <a:endParaRPr lang="en-US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Billing and </a:t>
            </a: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invoicing, </a:t>
            </a:r>
            <a:r>
              <a:rPr lang="en-US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etc.</a:t>
            </a:r>
          </a:p>
          <a:p>
            <a:pPr algn="just"/>
            <a:endParaRPr lang="en-CA" sz="2800" b="1" dirty="0">
              <a:latin typeface="Abadi" panose="020B0604020104020204" pitchFamily="34" charset="0"/>
            </a:endParaRPr>
          </a:p>
          <a:p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475067" y="384064"/>
            <a:ext cx="98673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q"/>
            </a:pPr>
            <a:r>
              <a:rPr lang="en-IN" sz="6600" b="1" u="sng" dirty="0" smtClean="0">
                <a:latin typeface="Agency FB" panose="020B0503020202020204" pitchFamily="34" charset="0"/>
              </a:rPr>
              <a:t>Purpose Of The Project</a:t>
            </a:r>
            <a:r>
              <a:rPr lang="en-IN" sz="6600" b="1" dirty="0" smtClean="0">
                <a:latin typeface="Agency FB" panose="020B0503020202020204" pitchFamily="34" charset="0"/>
              </a:rPr>
              <a:t>:</a:t>
            </a:r>
            <a:endParaRPr lang="en-IN" sz="6600" b="1" dirty="0">
              <a:latin typeface="Agency FB" panose="020B0503020202020204" pitchFamily="34" charset="0"/>
            </a:endParaRPr>
          </a:p>
          <a:p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988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pic>
        <p:nvPicPr>
          <p:cNvPr id="3" name="Content Placeholder 14" descr="A diagram of a service&#10;&#10;Description automatically generated">
            <a:extLst>
              <a:ext uri="{FF2B5EF4-FFF2-40B4-BE49-F238E27FC236}">
                <a16:creationId xmlns:a16="http://schemas.microsoft.com/office/drawing/2014/main" id="{EA79E909-4145-393A-024E-C6FFD0BADB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71" y="0"/>
            <a:ext cx="7829104" cy="6793106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86070" y="-129381"/>
            <a:ext cx="10981622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u="sng" dirty="0">
                <a:latin typeface="Agency FB" panose="020B0503020202020204" pitchFamily="34" charset="0"/>
              </a:rPr>
              <a:t>Flow</a:t>
            </a:r>
            <a:r>
              <a:rPr lang="en-IN" dirty="0"/>
              <a:t> </a:t>
            </a:r>
            <a:r>
              <a:rPr lang="en-IN" b="1" u="sng" dirty="0">
                <a:latin typeface="Agency FB" panose="020B0503020202020204" pitchFamily="34" charset="0"/>
              </a:rPr>
              <a:t>Chart</a:t>
            </a:r>
            <a:r>
              <a:rPr lang="en-IN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990653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2B938F7D-73C6-9FF7-E7B4-90C628DF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49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 ER diagram :-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146120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FAC60592-9BF3-3B09-5B14-012BDD1A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70" y="497840"/>
            <a:ext cx="10467730" cy="776377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 </a:t>
            </a: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Use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 </a:t>
            </a: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Case</a:t>
            </a:r>
            <a:r>
              <a:rPr lang="en-US" sz="40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 </a:t>
            </a:r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sym typeface="Wingdings" panose="05000000000000000000" pitchFamily="2" charset="2"/>
              </a:rPr>
              <a:t>diagram :</a:t>
            </a:r>
            <a:endParaRPr lang="en-CA" sz="4000" dirty="0"/>
          </a:p>
        </p:txBody>
      </p:sp>
      <p:pic>
        <p:nvPicPr>
          <p:cNvPr id="3" name="Content Placeholder 13" descr="A diagram of a service system&#10;&#10;Description automatically generated">
            <a:extLst>
              <a:ext uri="{FF2B5EF4-FFF2-40B4-BE49-F238E27FC236}">
                <a16:creationId xmlns:a16="http://schemas.microsoft.com/office/drawing/2014/main" id="{7A5A8225-484D-28DC-2117-3F0C7D5C0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274217"/>
            <a:ext cx="10591800" cy="521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68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D71D78C6-7E44-C687-CA12-D5FDD1ABBE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335478"/>
              </p:ext>
            </p:extLst>
          </p:nvPr>
        </p:nvGraphicFramePr>
        <p:xfrm>
          <a:off x="653143" y="2180359"/>
          <a:ext cx="11205027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5009">
                  <a:extLst>
                    <a:ext uri="{9D8B030D-6E8A-4147-A177-3AD203B41FA5}">
                      <a16:colId xmlns:a16="http://schemas.microsoft.com/office/drawing/2014/main" val="1398226493"/>
                    </a:ext>
                  </a:extLst>
                </a:gridCol>
                <a:gridCol w="3735009">
                  <a:extLst>
                    <a:ext uri="{9D8B030D-6E8A-4147-A177-3AD203B41FA5}">
                      <a16:colId xmlns:a16="http://schemas.microsoft.com/office/drawing/2014/main" val="3709963582"/>
                    </a:ext>
                  </a:extLst>
                </a:gridCol>
                <a:gridCol w="3735009">
                  <a:extLst>
                    <a:ext uri="{9D8B030D-6E8A-4147-A177-3AD203B41FA5}">
                      <a16:colId xmlns:a16="http://schemas.microsoft.com/office/drawing/2014/main" val="4279009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Structures using JAVA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 - II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DATABASE </a:t>
                      </a:r>
                      <a:r>
                        <a:rPr lang="en-US" dirty="0" smtClean="0"/>
                        <a:t>MANAGEMEN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87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 smtClean="0"/>
                        <a:t>Linked</a:t>
                      </a:r>
                      <a:r>
                        <a:rPr lang="en-US" baseline="0" dirty="0" smtClean="0"/>
                        <a:t> List </a:t>
                      </a:r>
                      <a:r>
                        <a:rPr lang="en-IN" baseline="0" dirty="0" smtClean="0"/>
                        <a:t>[For Display All Clients]</a:t>
                      </a:r>
                      <a:endParaRPr lang="en-US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 GUI [Graphical</a:t>
                      </a:r>
                      <a:r>
                        <a:rPr lang="en-US" baseline="0" dirty="0" smtClean="0"/>
                        <a:t> User Interface] For</a:t>
                      </a:r>
                    </a:p>
                    <a:p>
                      <a:r>
                        <a:rPr lang="en-US" baseline="0" dirty="0" smtClean="0"/>
                        <a:t>     Better Presentation.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</a:t>
                      </a:r>
                      <a:r>
                        <a:rPr lang="en-US" baseline="0" dirty="0" smtClean="0"/>
                        <a:t> CRUD Functions Of SQL And Like Query For Searching Client.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215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AutoNum type="arabicPeriod" startAt="2"/>
                      </a:pPr>
                      <a:r>
                        <a:rPr lang="en-IN" baseline="0" dirty="0" smtClean="0"/>
                        <a:t>Array List For Storing  Clients     Objects.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</a:t>
                      </a:r>
                      <a:r>
                        <a:rPr lang="en-US" baseline="0" dirty="0" smtClean="0"/>
                        <a:t> Date And Calendar Functions  </a:t>
                      </a:r>
                    </a:p>
                    <a:p>
                      <a:r>
                        <a:rPr lang="en-US" baseline="0" dirty="0" smtClean="0"/>
                        <a:t>    Which Deals With Real Time    </a:t>
                      </a:r>
                    </a:p>
                    <a:p>
                      <a:r>
                        <a:rPr lang="en-US" baseline="0" dirty="0" smtClean="0"/>
                        <a:t>    Complexity.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2. Trigger For Backup of </a:t>
                      </a:r>
                    </a:p>
                    <a:p>
                      <a:r>
                        <a:rPr lang="en-IN" dirty="0" smtClean="0"/>
                        <a:t>    Clients.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37459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73138" y="980157"/>
            <a:ext cx="11730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Functionalities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of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Project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>
                <a:solidFill>
                  <a:prstClr val="black"/>
                </a:solidFill>
                <a:latin typeface="Agency FB" panose="020B0503020202020204" pitchFamily="34" charset="0"/>
              </a:rPr>
              <a:t>Related</a:t>
            </a:r>
            <a:r>
              <a:rPr lang="en-US" sz="4400" b="1" dirty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>
                <a:solidFill>
                  <a:prstClr val="black"/>
                </a:solidFill>
                <a:latin typeface="Agency FB" panose="020B0503020202020204" pitchFamily="34" charset="0"/>
              </a:rPr>
              <a:t>w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ith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Each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</a:t>
            </a:r>
            <a:r>
              <a:rPr lang="en-US" sz="4400" b="1" u="sng" dirty="0" smtClean="0">
                <a:solidFill>
                  <a:prstClr val="black"/>
                </a:solidFill>
                <a:latin typeface="Agency FB" panose="020B0503020202020204" pitchFamily="34" charset="0"/>
              </a:rPr>
              <a:t>Subject</a:t>
            </a:r>
            <a:r>
              <a:rPr lang="en-US" sz="4400" b="1" dirty="0" smtClean="0">
                <a:solidFill>
                  <a:prstClr val="black"/>
                </a:solidFill>
                <a:latin typeface="Agency FB" panose="020B0503020202020204" pitchFamily="34" charset="0"/>
              </a:rPr>
              <a:t> : </a:t>
            </a:r>
            <a:endParaRPr lang="en-IN" sz="4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083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AFA2-9179-EAD5-F398-6DB75AF49781}"/>
              </a:ext>
            </a:extLst>
          </p:cNvPr>
          <p:cNvSpPr txBox="1">
            <a:spLocks/>
          </p:cNvSpPr>
          <p:nvPr/>
        </p:nvSpPr>
        <p:spPr>
          <a:xfrm>
            <a:off x="508000" y="1465943"/>
            <a:ext cx="11263086" cy="4920343"/>
          </a:xfrm>
          <a:prstGeom prst="rect">
            <a:avLst/>
          </a:prstGeom>
          <a:solidFill>
            <a:srgbClr val="DAE3F3">
              <a:alpha val="43137"/>
            </a:srgb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 b="1" i="1" dirty="0">
                <a:solidFill>
                  <a:schemeClr val="accent1">
                    <a:lumMod val="50000"/>
                  </a:schemeClr>
                </a:solidFill>
              </a:rPr>
              <a:t>1) Client Class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Manages client details (</a:t>
            </a:r>
            <a:r>
              <a:rPr lang="en-US" sz="2400" b="1" dirty="0" err="1">
                <a:latin typeface="Abadi"/>
              </a:rPr>
              <a:t>name,dop</a:t>
            </a:r>
            <a:r>
              <a:rPr lang="en-US" sz="2400" b="1" dirty="0">
                <a:latin typeface="Abadi"/>
              </a:rPr>
              <a:t>, address, phone, </a:t>
            </a:r>
            <a:r>
              <a:rPr lang="en-US" sz="2400" b="1" dirty="0" err="1">
                <a:latin typeface="Abadi"/>
              </a:rPr>
              <a:t>acModel</a:t>
            </a:r>
            <a:r>
              <a:rPr lang="en-US" sz="2400" b="1" dirty="0">
                <a:latin typeface="Abadi"/>
              </a:rPr>
              <a:t>, price, description, service info).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Includes methods for date calculations, service renewals, and package management.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CA" b="1" i="1" dirty="0" smtClean="0">
                <a:solidFill>
                  <a:srgbClr val="002060"/>
                </a:solidFill>
              </a:rPr>
              <a:t>2</a:t>
            </a:r>
            <a:r>
              <a:rPr lang="en-CA" b="1" i="1" dirty="0">
                <a:solidFill>
                  <a:srgbClr val="002060"/>
                </a:solidFill>
              </a:rPr>
              <a:t>) </a:t>
            </a:r>
            <a:r>
              <a:rPr lang="en-CA" b="1" i="1" dirty="0" err="1">
                <a:solidFill>
                  <a:srgbClr val="002060"/>
                </a:solidFill>
              </a:rPr>
              <a:t>ClientManager</a:t>
            </a:r>
            <a:r>
              <a:rPr lang="en-CA" b="1" i="1" dirty="0">
                <a:solidFill>
                  <a:srgbClr val="002060"/>
                </a:solidFill>
              </a:rPr>
              <a:t> Class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Handles CRUD operations with the MySQL database via JDBC.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Manages client services, including performing and updating service packages</a:t>
            </a:r>
            <a:r>
              <a:rPr lang="en-US" sz="2400" b="1" dirty="0" smtClean="0">
                <a:latin typeface="Abadi"/>
              </a:rPr>
              <a:t>.</a:t>
            </a:r>
            <a:endParaRPr lang="en-CA" sz="2400" b="1" dirty="0"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CA" b="1" i="1" dirty="0">
                <a:solidFill>
                  <a:srgbClr val="002060"/>
                </a:solidFill>
              </a:rPr>
              <a:t>3) </a:t>
            </a:r>
            <a:r>
              <a:rPr lang="en-CA" b="1" i="1" dirty="0" err="1">
                <a:solidFill>
                  <a:srgbClr val="002060"/>
                </a:solidFill>
              </a:rPr>
              <a:t>AcManagementSystem</a:t>
            </a:r>
            <a:r>
              <a:rPr lang="en-CA" b="1" i="1" dirty="0">
                <a:solidFill>
                  <a:srgbClr val="002060"/>
                </a:solidFill>
              </a:rPr>
              <a:t> Class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Main application window extending </a:t>
            </a:r>
            <a:r>
              <a:rPr lang="en-US" sz="2400" b="1" dirty="0" err="1">
                <a:latin typeface="Abadi"/>
              </a:rPr>
              <a:t>JFrame</a:t>
            </a:r>
            <a:r>
              <a:rPr lang="en-US" sz="2400" b="1" dirty="0">
                <a:latin typeface="Abadi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badi"/>
              </a:rPr>
              <a:t>Provides GUI elements like text fields for input, buttons for actions (add, update, remove clients, perform services), and a text area for displaying information.</a:t>
            </a:r>
          </a:p>
          <a:p>
            <a:pPr marL="0" indent="0">
              <a:buNone/>
            </a:pPr>
            <a:r>
              <a:rPr lang="en-CA" b="1" i="1" dirty="0" smtClean="0">
                <a:solidFill>
                  <a:srgbClr val="002060"/>
                </a:solidFill>
              </a:rPr>
              <a:t>4) </a:t>
            </a:r>
            <a:r>
              <a:rPr lang="en-CA" b="1" i="1" dirty="0" err="1" smtClean="0">
                <a:solidFill>
                  <a:srgbClr val="002060"/>
                </a:solidFill>
              </a:rPr>
              <a:t>LinkedList</a:t>
            </a:r>
            <a:r>
              <a:rPr lang="en-CA" b="1" i="1" dirty="0" smtClean="0">
                <a:solidFill>
                  <a:srgbClr val="002060"/>
                </a:solidFill>
              </a:rPr>
              <a:t> Class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badi"/>
              </a:rPr>
              <a:t>This Class is used for Display all Clients present in Database using temp variable.</a:t>
            </a:r>
          </a:p>
          <a:p>
            <a:pPr marL="0" indent="0">
              <a:buNone/>
            </a:pPr>
            <a:endParaRPr lang="en-CA" b="1" i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CA" b="1" i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CA" b="1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 defTabSz="927100">
              <a:buFont typeface="Wingdings" panose="05000000000000000000" pitchFamily="2" charset="2"/>
              <a:buChar char="v"/>
            </a:pPr>
            <a:r>
              <a:rPr lang="en-IN" sz="4800" b="1" dirty="0">
                <a:latin typeface="Agency FB" panose="020B0503020202020204" pitchFamily="34" charset="0"/>
              </a:rPr>
              <a:t> </a:t>
            </a:r>
            <a:r>
              <a:rPr lang="en-IN" sz="4800" b="1" u="sng" dirty="0">
                <a:latin typeface="Agency FB" panose="020B0503020202020204" pitchFamily="34" charset="0"/>
              </a:rPr>
              <a:t>USED</a:t>
            </a:r>
            <a:r>
              <a:rPr lang="en-IN" sz="4800" b="1" dirty="0">
                <a:latin typeface="Agency FB" panose="020B0503020202020204" pitchFamily="34" charset="0"/>
              </a:rPr>
              <a:t> </a:t>
            </a:r>
            <a:r>
              <a:rPr lang="en-IN" sz="4800" b="1" u="sng" dirty="0">
                <a:latin typeface="Agency FB" panose="020B0503020202020204" pitchFamily="34" charset="0"/>
              </a:rPr>
              <a:t>DATA</a:t>
            </a:r>
            <a:r>
              <a:rPr lang="en-IN" sz="4800" b="1" dirty="0">
                <a:latin typeface="Agency FB" panose="020B0503020202020204" pitchFamily="34" charset="0"/>
              </a:rPr>
              <a:t> </a:t>
            </a:r>
            <a:r>
              <a:rPr lang="en-IN" sz="4800" b="1" u="sng" dirty="0">
                <a:latin typeface="Agency FB" panose="020B0503020202020204" pitchFamily="34" charset="0"/>
              </a:rPr>
              <a:t>STRUCTURES</a:t>
            </a:r>
            <a:r>
              <a:rPr lang="en-IN" sz="4800" b="1" dirty="0">
                <a:latin typeface="Agency FB" panose="020B0503020202020204" pitchFamily="34" charset="0"/>
              </a:rPr>
              <a:t> &amp; </a:t>
            </a:r>
            <a:r>
              <a:rPr lang="en-IN" sz="4800" b="1" u="sng" dirty="0">
                <a:latin typeface="Agency FB" panose="020B0503020202020204" pitchFamily="34" charset="0"/>
              </a:rPr>
              <a:t>CLASSES</a:t>
            </a:r>
            <a:r>
              <a:rPr lang="en-IN" sz="4800" b="1" dirty="0">
                <a:latin typeface="Agency FB" panose="020B0503020202020204" pitchFamily="34" charset="0"/>
              </a:rPr>
              <a:t> </a:t>
            </a:r>
            <a:r>
              <a:rPr lang="en-IN" sz="48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985623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67079" y="265480"/>
            <a:ext cx="645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Wingdings" panose="05000000000000000000" pitchFamily="2" charset="2"/>
              <a:buChar char="v"/>
            </a:pPr>
            <a:r>
              <a:rPr lang="en-IN" sz="6600" b="1" u="sng" dirty="0">
                <a:latin typeface="Agency FB" panose="020B0503020202020204" pitchFamily="34" charset="0"/>
              </a:rPr>
              <a:t>Tools</a:t>
            </a:r>
            <a:r>
              <a:rPr lang="en-IN" sz="6600" b="1" dirty="0">
                <a:latin typeface="Agency FB" panose="020B0503020202020204" pitchFamily="34" charset="0"/>
              </a:rPr>
              <a:t> </a:t>
            </a:r>
            <a:r>
              <a:rPr lang="en-IN" sz="6600" b="1" u="sng" dirty="0">
                <a:latin typeface="Agency FB" panose="020B0503020202020204" pitchFamily="34" charset="0"/>
              </a:rPr>
              <a:t>Used</a:t>
            </a:r>
            <a:r>
              <a:rPr lang="en-IN" sz="6600" b="1" dirty="0">
                <a:latin typeface="Agency FB" panose="020B0503020202020204" pitchFamily="34" charset="0"/>
              </a:rPr>
              <a:t> </a:t>
            </a:r>
            <a:r>
              <a:rPr lang="en-IN" sz="6000" b="1" dirty="0">
                <a:latin typeface="Agency FB" panose="020B0503020202020204" pitchFamily="34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956" y="1915135"/>
            <a:ext cx="12337576" cy="4401205"/>
          </a:xfrm>
          <a:prstGeom prst="rect">
            <a:avLst/>
          </a:prstGeom>
          <a:solidFill>
            <a:srgbClr val="F2F2F2">
              <a:alpha val="41176"/>
            </a:srgbClr>
          </a:solidFill>
        </p:spPr>
        <p:txBody>
          <a:bodyPr wrap="square">
            <a:spAutoFit/>
          </a:bodyPr>
          <a:lstStyle/>
          <a:p>
            <a:pPr algn="just"/>
            <a:r>
              <a:rPr lang="en-CA" sz="2800" b="1" i="1" dirty="0">
                <a:ea typeface="ADLaM Display" panose="02010000000000000000" pitchFamily="2" charset="0"/>
                <a:cs typeface="ADLaM Display" panose="02010000000000000000" pitchFamily="2" charset="0"/>
              </a:rPr>
              <a:t>Database</a:t>
            </a:r>
            <a:r>
              <a:rPr lang="en-CA" sz="2800" b="1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CA" sz="2800" b="1" i="1" dirty="0">
                <a:latin typeface="Calibri" panose="020F0502020204030204" pitchFamily="34" charset="0"/>
                <a:ea typeface="ADLaM Display" panose="02010000000000000000" pitchFamily="2" charset="0"/>
                <a:cs typeface="Calibri" panose="020F0502020204030204" pitchFamily="34" charset="0"/>
              </a:rPr>
              <a:t>Integration</a:t>
            </a:r>
            <a:r>
              <a:rPr lang="en-CA" sz="2800" b="1" i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CA" sz="2800" i="1" dirty="0" smtClean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endParaRPr lang="en-CA" sz="2800" i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Abadi"/>
              </a:rPr>
              <a:t>Connects to MySQL using JDBC.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Abadi"/>
              </a:rPr>
              <a:t>Executes SQL statements for CRUD operations on the clients table</a:t>
            </a:r>
            <a:r>
              <a:rPr lang="en-US" sz="2800" dirty="0"/>
              <a:t>.</a:t>
            </a:r>
          </a:p>
          <a:p>
            <a:pPr algn="just"/>
            <a:endParaRPr lang="en-CA" sz="2800" b="1" dirty="0"/>
          </a:p>
          <a:p>
            <a:pPr algn="just"/>
            <a:r>
              <a:rPr lang="en-CA" sz="2800" b="1" i="1" dirty="0">
                <a:latin typeface="Abadi"/>
                <a:ea typeface="ADLaM Display" panose="02010000000000000000" pitchFamily="2" charset="0"/>
                <a:cs typeface="ADLaM Display" panose="02010000000000000000" pitchFamily="2" charset="0"/>
              </a:rPr>
              <a:t>GUI Elements </a:t>
            </a:r>
            <a:r>
              <a:rPr lang="en-CA" sz="2800" b="1" i="1" dirty="0" smtClean="0">
                <a:latin typeface="Abadi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  <a:endParaRPr lang="en-CA" sz="2800" b="1" u="sng" dirty="0">
              <a:highlight>
                <a:srgbClr val="FFFF00"/>
              </a:highlight>
              <a:latin typeface="Abadi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i="1" dirty="0" err="1">
                <a:latin typeface="Agency FB" panose="020B0503020202020204" pitchFamily="34" charset="0"/>
              </a:rPr>
              <a:t>JTextField</a:t>
            </a:r>
            <a:r>
              <a:rPr lang="en-US" sz="2800" i="1" dirty="0">
                <a:latin typeface="Agency FB" panose="020B0503020202020204" pitchFamily="34" charset="0"/>
              </a:rPr>
              <a:t> </a:t>
            </a:r>
            <a:r>
              <a:rPr lang="en-US" sz="2800" dirty="0"/>
              <a:t>: For client data input and </a:t>
            </a:r>
          </a:p>
          <a:p>
            <a:pPr algn="just"/>
            <a:r>
              <a:rPr lang="en-US" sz="2800" dirty="0"/>
              <a:t>      search queries.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i="1" dirty="0" err="1">
                <a:latin typeface="Agency FB" panose="020B0503020202020204" pitchFamily="34" charset="0"/>
              </a:rPr>
              <a:t>JButton</a:t>
            </a:r>
            <a:r>
              <a:rPr lang="en-US" sz="2800" b="1" i="1" dirty="0">
                <a:latin typeface="Agency FB" panose="020B0503020202020204" pitchFamily="34" charset="0"/>
              </a:rPr>
              <a:t> </a:t>
            </a:r>
            <a:r>
              <a:rPr lang="en-US" sz="2800" i="1" dirty="0"/>
              <a:t>:</a:t>
            </a:r>
            <a:r>
              <a:rPr lang="en-US" sz="2800" dirty="0"/>
              <a:t> For actions like add, update,</a:t>
            </a:r>
          </a:p>
          <a:p>
            <a:pPr algn="just"/>
            <a:r>
              <a:rPr lang="en-US" sz="2800" dirty="0"/>
              <a:t>      remove.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i="1" dirty="0" err="1">
                <a:latin typeface="Agency FB" panose="020B0503020202020204" pitchFamily="34" charset="0"/>
              </a:rPr>
              <a:t>TextArea</a:t>
            </a:r>
            <a:r>
              <a:rPr lang="en-US" sz="2800" i="1" dirty="0"/>
              <a:t> </a:t>
            </a:r>
            <a:r>
              <a:rPr lang="en-US" sz="2800" i="1" dirty="0" smtClean="0"/>
              <a:t>:</a:t>
            </a:r>
            <a:r>
              <a:rPr lang="en-US" sz="2800" dirty="0" smtClean="0"/>
              <a:t> </a:t>
            </a:r>
            <a:r>
              <a:rPr lang="en-US" sz="2800" dirty="0"/>
              <a:t>For displaying client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59275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84A1-95F5-29DB-35E7-F53970D7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8626" y="0"/>
            <a:ext cx="10515600" cy="1325563"/>
          </a:xfrm>
        </p:spPr>
        <p:txBody>
          <a:bodyPr>
            <a:normAutofit/>
          </a:bodyPr>
          <a:lstStyle/>
          <a:p>
            <a:pPr marL="685800" indent="-685800" algn="ctr">
              <a:buFont typeface="Wingdings" panose="05000000000000000000" pitchFamily="2" charset="2"/>
              <a:buChar char="v"/>
            </a:pPr>
            <a:r>
              <a:rPr lang="en-US" sz="6600" b="1" dirty="0">
                <a:latin typeface="Agency FB" panose="020B0503020202020204" pitchFamily="34" charset="0"/>
                <a:sym typeface="Wingdings" panose="05000000000000000000" pitchFamily="2" charset="2"/>
              </a:rPr>
              <a:t> </a:t>
            </a:r>
            <a:r>
              <a:rPr lang="en-US" sz="6600" b="1" u="sng" dirty="0">
                <a:latin typeface="Agency FB" panose="020B0503020202020204" pitchFamily="34" charset="0"/>
                <a:sym typeface="Wingdings" panose="05000000000000000000" pitchFamily="2" charset="2"/>
              </a:rPr>
              <a:t>Workflow</a:t>
            </a:r>
            <a:r>
              <a:rPr lang="en-US" sz="6600" b="1" dirty="0">
                <a:latin typeface="Agency FB" panose="020B0503020202020204" pitchFamily="34" charset="0"/>
                <a:sym typeface="Wingdings" panose="05000000000000000000" pitchFamily="2" charset="2"/>
              </a:rPr>
              <a:t> :</a:t>
            </a:r>
            <a:endParaRPr lang="en-CA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24127-4D62-FE9E-ABA8-B1AFBDE4F97C}"/>
              </a:ext>
            </a:extLst>
          </p:cNvPr>
          <p:cNvSpPr txBox="1">
            <a:spLocks/>
          </p:cNvSpPr>
          <p:nvPr/>
        </p:nvSpPr>
        <p:spPr>
          <a:xfrm>
            <a:off x="835079" y="1325563"/>
            <a:ext cx="10515600" cy="4976321"/>
          </a:xfrm>
          <a:prstGeom prst="rect">
            <a:avLst/>
          </a:prstGeom>
          <a:solidFill>
            <a:srgbClr val="DAE3F3">
              <a:alpha val="40000"/>
            </a:srgb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Add</a:t>
            </a:r>
            <a:r>
              <a:rPr lang="en-US" b="1" i="1" dirty="0"/>
              <a:t> </a:t>
            </a:r>
            <a:r>
              <a:rPr lang="en-US" b="1" i="1" dirty="0">
                <a:latin typeface="Agency FB" panose="020B0503020202020204" pitchFamily="34" charset="0"/>
              </a:rPr>
              <a:t>Client</a:t>
            </a:r>
            <a:r>
              <a:rPr lang="en-US" b="1" i="1" dirty="0"/>
              <a:t> : </a:t>
            </a:r>
            <a:r>
              <a:rPr lang="en-US" dirty="0"/>
              <a:t>Enter details, save to database.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Remove Client</a:t>
            </a:r>
            <a:r>
              <a:rPr lang="en-US" b="1" i="1" dirty="0"/>
              <a:t> : </a:t>
            </a:r>
            <a:r>
              <a:rPr lang="en-US" dirty="0"/>
              <a:t>Delete client by name.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Update Client </a:t>
            </a:r>
            <a:r>
              <a:rPr lang="en-US" b="1" i="1" dirty="0"/>
              <a:t>: </a:t>
            </a:r>
            <a:r>
              <a:rPr lang="en-US" dirty="0"/>
              <a:t>Modify existing client details.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Search Client</a:t>
            </a:r>
            <a:r>
              <a:rPr lang="en-US" b="1" i="1" dirty="0"/>
              <a:t> : </a:t>
            </a:r>
            <a:r>
              <a:rPr lang="en-US" dirty="0"/>
              <a:t>Find clients by name or DOB.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Display Clients </a:t>
            </a:r>
            <a:r>
              <a:rPr lang="en-US" b="1" i="1" dirty="0"/>
              <a:t>: </a:t>
            </a:r>
            <a:r>
              <a:rPr lang="en-US" dirty="0"/>
              <a:t>Show all clients in the database.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Perform Services </a:t>
            </a:r>
            <a:r>
              <a:rPr lang="en-US" b="1" i="1" dirty="0"/>
              <a:t>: </a:t>
            </a:r>
            <a:r>
              <a:rPr lang="en-US" dirty="0"/>
              <a:t>Update service records and schedule next service.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1" dirty="0">
                <a:latin typeface="Agency FB" panose="020B0503020202020204" pitchFamily="34" charset="0"/>
              </a:rPr>
              <a:t>Update Service Packages </a:t>
            </a:r>
            <a:r>
              <a:rPr lang="en-US" b="1" i="1" dirty="0"/>
              <a:t>: </a:t>
            </a:r>
            <a:r>
              <a:rPr lang="en-US" dirty="0"/>
              <a:t>Reset service count and update service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		dates.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200" b="1" i="1" dirty="0">
                <a:solidFill>
                  <a:srgbClr val="002060"/>
                </a:solidFill>
              </a:rPr>
              <a:t>The application combines a structured GUI with efficient database management for a  comprehensive client management system.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14887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2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00F9EF62-FB94-3B34-3151-9622066B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853" y="182607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6600" b="1" dirty="0">
                <a:latin typeface="Agency FB" panose="020B0503020202020204" pitchFamily="34" charset="0"/>
              </a:rPr>
              <a:t> </a:t>
            </a:r>
            <a:r>
              <a:rPr lang="en-US" sz="6600" b="1" u="sng" dirty="0">
                <a:latin typeface="Agency FB" panose="020B0503020202020204" pitchFamily="34" charset="0"/>
              </a:rPr>
              <a:t>Merits</a:t>
            </a:r>
            <a:r>
              <a:rPr lang="en-US" sz="6600" b="1" dirty="0">
                <a:latin typeface="Agency FB" panose="020B0503020202020204" pitchFamily="34" charset="0"/>
              </a:rPr>
              <a:t> :</a:t>
            </a:r>
            <a:endParaRPr lang="en-CA" sz="6600" b="1" dirty="0">
              <a:latin typeface="Agency FB" panose="020B0503020202020204" pitchFamily="34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5048038-F462-F94C-2DCA-A08DABA85748}"/>
              </a:ext>
            </a:extLst>
          </p:cNvPr>
          <p:cNvSpPr txBox="1">
            <a:spLocks/>
          </p:cNvSpPr>
          <p:nvPr/>
        </p:nvSpPr>
        <p:spPr>
          <a:xfrm>
            <a:off x="439914" y="1608557"/>
            <a:ext cx="10515600" cy="44862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Improved Efficiency 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Enhanced Customer Service 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Improved Employee Productivity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Effective Marketing and Promotions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Customer Retention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Regulatory Compliance</a:t>
            </a:r>
          </a:p>
          <a:p>
            <a:r>
              <a:rPr lang="en-CA" sz="3600" dirty="0">
                <a:latin typeface="Candara Light" panose="020E0502030303020204" pitchFamily="34" charset="0"/>
                <a:ea typeface="BatangChe" panose="020B0503020000020004" pitchFamily="49" charset="-127"/>
              </a:rPr>
              <a:t>Scalability , etc.</a:t>
            </a:r>
          </a:p>
        </p:txBody>
      </p:sp>
    </p:spTree>
    <p:extLst>
      <p:ext uri="{BB962C8B-B14F-4D97-AF65-F5344CB8AC3E}">
        <p14:creationId xmlns:p14="http://schemas.microsoft.com/office/powerpoint/2010/main" val="27367066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73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6DB3AFD8-F965-243C-ABD7-210AAAA0586A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Clr>
                <a:schemeClr val="tx1">
                  <a:lumMod val="85000"/>
                  <a:lumOff val="15000"/>
                </a:schemeClr>
              </a:buClr>
              <a:buFont typeface="Wingdings" panose="05000000000000000000" pitchFamily="2" charset="2"/>
              <a:buChar char="Ø"/>
            </a:pPr>
            <a:endParaRPr lang="en-CA" dirty="0">
              <a:highlight>
                <a:srgbClr val="FF0000"/>
              </a:highlight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6A6B11D-114A-62C0-E337-CE559A6C9FC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dirty="0">
                <a:latin typeface="Candara Light" panose="020E0502030303020204" pitchFamily="34" charset="0"/>
              </a:rPr>
              <a:t>Initial Cost</a:t>
            </a:r>
          </a:p>
          <a:p>
            <a:r>
              <a:rPr lang="en-CA" sz="3600" dirty="0">
                <a:latin typeface="Candara Light" panose="020E0502030303020204" pitchFamily="34" charset="0"/>
              </a:rPr>
              <a:t>Learning Curve</a:t>
            </a:r>
          </a:p>
          <a:p>
            <a:r>
              <a:rPr lang="en-CA" sz="3600" dirty="0">
                <a:latin typeface="Candara Light" panose="020E0502030303020204" pitchFamily="34" charset="0"/>
              </a:rPr>
              <a:t>Ongoing Maintenance and Updates</a:t>
            </a:r>
          </a:p>
          <a:p>
            <a:r>
              <a:rPr lang="en-CA" sz="3600" dirty="0">
                <a:latin typeface="Candara Light" panose="020E0502030303020204" pitchFamily="34" charset="0"/>
              </a:rPr>
              <a:t>Technical Issues and Downtime</a:t>
            </a:r>
          </a:p>
          <a:p>
            <a:r>
              <a:rPr lang="en-CA" sz="3600" dirty="0">
                <a:latin typeface="Candara Light" panose="020E0502030303020204" pitchFamily="34" charset="0"/>
              </a:rPr>
              <a:t>Licensing and Subscription Costs</a:t>
            </a:r>
          </a:p>
          <a:p>
            <a:r>
              <a:rPr lang="en-CA" sz="3600" dirty="0">
                <a:latin typeface="Candara Light" panose="020E0502030303020204" pitchFamily="34" charset="0"/>
              </a:rPr>
              <a:t>Dependency on Technology and Data Security Concerns ,</a:t>
            </a:r>
            <a:r>
              <a:rPr lang="en-CA" sz="3600" dirty="0" err="1">
                <a:latin typeface="Candara Light" panose="020E0502030303020204" pitchFamily="34" charset="0"/>
              </a:rPr>
              <a:t>etc</a:t>
            </a:r>
            <a:r>
              <a:rPr lang="en-CA" sz="3600" dirty="0">
                <a:latin typeface="Candara Light" panose="020E0502030303020204" pitchFamily="34" charset="0"/>
              </a:rPr>
              <a:t> .</a:t>
            </a: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D59A31FB-916C-5FD5-A3B0-EAD6AA05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853" y="182607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6600" b="1" dirty="0">
                <a:latin typeface="Agency FB" panose="020B0503020202020204" pitchFamily="34" charset="0"/>
              </a:rPr>
              <a:t> </a:t>
            </a:r>
            <a:r>
              <a:rPr lang="en-US" sz="6600" b="1" u="sng" dirty="0">
                <a:latin typeface="Agency FB" panose="020B0503020202020204" pitchFamily="34" charset="0"/>
              </a:rPr>
              <a:t>Demerits</a:t>
            </a:r>
            <a:r>
              <a:rPr lang="en-US" sz="6600" b="1" dirty="0">
                <a:latin typeface="Agency FB" panose="020B0503020202020204" pitchFamily="34" charset="0"/>
              </a:rPr>
              <a:t> :</a:t>
            </a:r>
            <a:endParaRPr lang="en-CA" sz="66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7892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226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8" y="69012"/>
            <a:ext cx="741512" cy="77637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1CC3BEC-F8C1-A97F-8358-249CA238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89571" cy="1325563"/>
          </a:xfrm>
          <a:noFill/>
        </p:spPr>
        <p:txBody>
          <a:bodyPr>
            <a:normAutofit/>
          </a:bodyPr>
          <a:lstStyle/>
          <a:p>
            <a:pPr marL="857250" indent="-857250" algn="ctr">
              <a:buFont typeface="Wingdings" panose="05000000000000000000" pitchFamily="2" charset="2"/>
              <a:buChar char="q"/>
            </a:pPr>
            <a:r>
              <a:rPr lang="en-US" sz="6600" b="1" u="sng" dirty="0" smtClean="0">
                <a:latin typeface="Agency FB" panose="020B0503020202020204" pitchFamily="34" charset="0"/>
              </a:rPr>
              <a:t>Future</a:t>
            </a:r>
            <a:r>
              <a:rPr lang="en-US" sz="6600" b="1" dirty="0" smtClean="0">
                <a:latin typeface="Agency FB" panose="020B0503020202020204" pitchFamily="34" charset="0"/>
              </a:rPr>
              <a:t> </a:t>
            </a:r>
            <a:r>
              <a:rPr lang="en-US" sz="6600" b="1" u="sng" dirty="0" smtClean="0">
                <a:latin typeface="Agency FB" panose="020B0503020202020204" pitchFamily="34" charset="0"/>
              </a:rPr>
              <a:t>scope </a:t>
            </a:r>
            <a:r>
              <a:rPr lang="en-US" sz="6600" b="1" dirty="0" smtClean="0">
                <a:latin typeface="Agency FB" panose="020B0503020202020204" pitchFamily="34" charset="0"/>
              </a:rPr>
              <a:t>:</a:t>
            </a:r>
            <a:endParaRPr lang="en-CA" sz="6600" b="1" dirty="0">
              <a:latin typeface="Agency FB" panose="020B0503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374C26-DD0C-DF1D-DE33-41695CA2C9C5}"/>
              </a:ext>
            </a:extLst>
          </p:cNvPr>
          <p:cNvSpPr txBox="1">
            <a:spLocks/>
          </p:cNvSpPr>
          <p:nvPr/>
        </p:nvSpPr>
        <p:spPr>
          <a:xfrm>
            <a:off x="838200" y="1802475"/>
            <a:ext cx="10515600" cy="435133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300" b="1" i="1" dirty="0"/>
              <a:t>1)  Artificial Intelligence and Machine Learning Integration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Predictive Analytics &amp; </a:t>
            </a: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Customer Support Automation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3300" b="1" i="1" dirty="0"/>
              <a:t>2)</a:t>
            </a:r>
            <a:r>
              <a:rPr lang="en-US" sz="3300" b="1" i="1" dirty="0"/>
              <a:t>  Internet of Things (IoT) Integration</a:t>
            </a:r>
            <a:endParaRPr lang="en-CA" sz="3300" b="1" i="1" dirty="0"/>
          </a:p>
          <a:p>
            <a:pPr>
              <a:buClr>
                <a:schemeClr val="tx1"/>
              </a:buClr>
            </a:pP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Smart Inventory Management &amp; Connected AC Units</a:t>
            </a:r>
          </a:p>
          <a:p>
            <a:endParaRPr lang="en-CA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CA" sz="3300" b="1" i="1" dirty="0"/>
              <a:t>3)  Cloud-Based Solutions</a:t>
            </a:r>
          </a:p>
          <a:p>
            <a:pPr>
              <a:buClr>
                <a:schemeClr val="tx1"/>
              </a:buClr>
            </a:pP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Scalability and Accessibility </a:t>
            </a:r>
            <a:r>
              <a:rPr lang="en-CA" b="1" dirty="0" smtClean="0">
                <a:solidFill>
                  <a:schemeClr val="bg1"/>
                </a:solidFill>
                <a:latin typeface="Abadi Extra Light" panose="020B0204020104020204" pitchFamily="34" charset="0"/>
              </a:rPr>
              <a:t>to Clients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 </a:t>
            </a:r>
            <a:r>
              <a:rPr lang="en-CA" b="1" dirty="0" smtClean="0">
                <a:solidFill>
                  <a:schemeClr val="bg1"/>
                </a:solidFill>
                <a:latin typeface="Abadi Extra Light" panose="020B0204020104020204" pitchFamily="34" charset="0"/>
              </a:rPr>
              <a:t>  &amp;</a:t>
            </a:r>
            <a:r>
              <a:rPr lang="en-CA" b="1" dirty="0" smtClean="0">
                <a:solidFill>
                  <a:schemeClr val="bg1"/>
                </a:solidFill>
                <a:latin typeface="Abadi Extra Light" panose="020B0204020104020204" pitchFamily="34" charset="0"/>
              </a:rPr>
              <a:t> Data </a:t>
            </a: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Security </a:t>
            </a:r>
            <a:r>
              <a:rPr lang="en-CA" b="1" dirty="0" smtClean="0">
                <a:solidFill>
                  <a:schemeClr val="bg1"/>
                </a:solidFill>
                <a:latin typeface="Abadi Extra Light" panose="020B0204020104020204" pitchFamily="34" charset="0"/>
              </a:rPr>
              <a:t>and Backup.</a:t>
            </a:r>
            <a:endParaRPr lang="en-CA" b="1" dirty="0">
              <a:solidFill>
                <a:schemeClr val="bg1"/>
              </a:solidFill>
              <a:latin typeface="Abadi Extra Light" panose="020B0204020104020204" pitchFamily="34" charset="0"/>
            </a:endParaRPr>
          </a:p>
          <a:p>
            <a:pPr marL="0" indent="0">
              <a:buNone/>
            </a:pPr>
            <a:r>
              <a:rPr lang="en-US" sz="3300" b="1" i="1" dirty="0"/>
              <a:t>4)  Enhanced Data Analytics and Business </a:t>
            </a:r>
          </a:p>
          <a:p>
            <a:pPr marL="0" indent="0">
              <a:buNone/>
            </a:pPr>
            <a:r>
              <a:rPr lang="en-US" sz="3300" b="1" i="1" dirty="0"/>
              <a:t>      Intelligence</a:t>
            </a:r>
          </a:p>
          <a:p>
            <a:pPr>
              <a:buClr>
                <a:schemeClr val="tx1"/>
              </a:buClr>
            </a:pPr>
            <a:r>
              <a:rPr lang="en-CA" b="1" dirty="0">
                <a:solidFill>
                  <a:schemeClr val="bg1"/>
                </a:solidFill>
                <a:latin typeface="Abadi Extra Light" panose="020B0204020104020204" pitchFamily="34" charset="0"/>
              </a:rPr>
              <a:t>Real-Time Insights &amp; Integration with Big Data</a:t>
            </a:r>
            <a:endParaRPr lang="en-US" b="1" dirty="0">
              <a:solidFill>
                <a:schemeClr val="bg1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37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mium Photo | Air conditioner on brackets on the background of a brick  house 3d">
            <a:extLst>
              <a:ext uri="{FF2B5EF4-FFF2-40B4-BE49-F238E27FC236}">
                <a16:creationId xmlns:a16="http://schemas.microsoft.com/office/drawing/2014/main" id="{DAA459CA-61DA-FB6D-8685-172B5E6288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8242" cy="685800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D7EE7C-EC8D-D1EB-68BD-7383A936F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7740" y="0"/>
            <a:ext cx="3152518" cy="603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8F815C-BB63-63E9-96CA-86A1BD7A8A3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0" y="69012"/>
            <a:ext cx="741512" cy="776377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62514" y="2103437"/>
            <a:ext cx="10515600" cy="1325563"/>
          </a:xfrm>
        </p:spPr>
        <p:txBody>
          <a:bodyPr/>
          <a:lstStyle/>
          <a:p>
            <a:r>
              <a:rPr lang="en-IN" sz="7200" dirty="0">
                <a:latin typeface="Bauhaus 93" panose="04030905020B02020C02" pitchFamily="82" charset="0"/>
              </a:rPr>
              <a:t>Thank </a:t>
            </a:r>
            <a:r>
              <a:rPr lang="en-IN" dirty="0">
                <a:latin typeface="Bauhaus 93" panose="04030905020B02020C02" pitchFamily="82" charset="0"/>
              </a:rPr>
              <a:t> </a:t>
            </a:r>
            <a:r>
              <a:rPr lang="en-IN" sz="7200" dirty="0">
                <a:latin typeface="Bauhaus 93" panose="04030905020B02020C02" pitchFamily="82" charset="0"/>
              </a:rPr>
              <a:t>You</a:t>
            </a:r>
            <a:r>
              <a:rPr lang="en-IN" dirty="0">
                <a:latin typeface="Bauhaus 93" panose="04030905020B02020C02" pitchFamily="82" charset="0"/>
              </a:rPr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486035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F956D6859C14B9E3D18FC82BCF52D" ma:contentTypeVersion="8" ma:contentTypeDescription="Create a new document." ma:contentTypeScope="" ma:versionID="5063bb59b0e09344a0681beb2a27af17">
  <xsd:schema xmlns:xsd="http://www.w3.org/2001/XMLSchema" xmlns:xs="http://www.w3.org/2001/XMLSchema" xmlns:p="http://schemas.microsoft.com/office/2006/metadata/properties" xmlns:ns3="96532380-585b-42b0-b155-5e4ad3ccf570" xmlns:ns4="f0016976-594e-4877-8eb7-4b85713b2909" targetNamespace="http://schemas.microsoft.com/office/2006/metadata/properties" ma:root="true" ma:fieldsID="0df6da913dae225bafcc8d937f0f4824" ns3:_="" ns4:_="">
    <xsd:import namespace="96532380-585b-42b0-b155-5e4ad3ccf570"/>
    <xsd:import namespace="f0016976-594e-4877-8eb7-4b85713b290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532380-585b-42b0-b155-5e4ad3ccf5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16976-594e-4877-8eb7-4b85713b29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016976-594e-4877-8eb7-4b85713b2909" xsi:nil="true"/>
  </documentManagement>
</p:properties>
</file>

<file path=customXml/itemProps1.xml><?xml version="1.0" encoding="utf-8"?>
<ds:datastoreItem xmlns:ds="http://schemas.openxmlformats.org/officeDocument/2006/customXml" ds:itemID="{5E071FE9-A48D-49F9-AFB7-7DDC6866AFA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135A48-0728-4D4C-9544-CFC24468B4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532380-585b-42b0-b155-5e4ad3ccf570"/>
    <ds:schemaRef ds:uri="f0016976-594e-4877-8eb7-4b85713b29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156AF0D-5A95-4AFC-814A-A91288F62256}">
  <ds:schemaRefs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f0016976-594e-4877-8eb7-4b85713b2909"/>
    <ds:schemaRef ds:uri="96532380-585b-42b0-b155-5e4ad3ccf5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2866</TotalTime>
  <Words>616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Abadi</vt:lpstr>
      <vt:lpstr>Abadi Extra Light</vt:lpstr>
      <vt:lpstr>ADLaM Display</vt:lpstr>
      <vt:lpstr>Agency FB</vt:lpstr>
      <vt:lpstr>Aharoni</vt:lpstr>
      <vt:lpstr>Arial</vt:lpstr>
      <vt:lpstr>BankGothic Md BT</vt:lpstr>
      <vt:lpstr>BatangChe</vt:lpstr>
      <vt:lpstr>Bauhaus 93</vt:lpstr>
      <vt:lpstr>Calibri</vt:lpstr>
      <vt:lpstr>Calibri Light</vt:lpstr>
      <vt:lpstr>Candara Light</vt:lpstr>
      <vt:lpstr>Wingdings</vt:lpstr>
      <vt:lpstr>Office Theme</vt:lpstr>
      <vt:lpstr>    AC SHOP MANAGEMENT       SYSTEM</vt:lpstr>
      <vt:lpstr>PowerPoint Presentation</vt:lpstr>
      <vt:lpstr>PowerPoint Presentation</vt:lpstr>
      <vt:lpstr>PowerPoint Presentation</vt:lpstr>
      <vt:lpstr>Flow Chart :</vt:lpstr>
      <vt:lpstr> ER diagram :-</vt:lpstr>
      <vt:lpstr> Use Case diagram :</vt:lpstr>
      <vt:lpstr>PowerPoint Presentation</vt:lpstr>
      <vt:lpstr> USED DATA STRUCTURES &amp; CLASSES :</vt:lpstr>
      <vt:lpstr>PowerPoint Presentation</vt:lpstr>
      <vt:lpstr> Workflow :</vt:lpstr>
      <vt:lpstr> Merits :</vt:lpstr>
      <vt:lpstr> Demerits :</vt:lpstr>
      <vt:lpstr>Future scope :</vt:lpstr>
      <vt:lpstr>Thank 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Definition</dc:title>
  <dc:creator>LJIET</dc:creator>
  <cp:lastModifiedBy>HP</cp:lastModifiedBy>
  <cp:revision>57</cp:revision>
  <dcterms:created xsi:type="dcterms:W3CDTF">2022-02-18T03:37:33Z</dcterms:created>
  <dcterms:modified xsi:type="dcterms:W3CDTF">2024-08-23T17:19:08Z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0x010100173F956D6859C14B9E3D18FC82BCF52D</vt:lpwstr>
  </property>
</Properties>
</file>